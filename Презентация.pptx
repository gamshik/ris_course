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7" r:id="rId2"/>
    <p:sldId id="257" r:id="rId3"/>
    <p:sldId id="258" r:id="rId4"/>
    <p:sldId id="260" r:id="rId5"/>
    <p:sldId id="265" r:id="rId6"/>
    <p:sldId id="261" r:id="rId7"/>
    <p:sldId id="259" r:id="rId8"/>
    <p:sldId id="266" r:id="rId9"/>
    <p:sldId id="263" r:id="rId10"/>
    <p:sldId id="262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4EDACA2-0D6D-49B5-9340-897185AAF468}"/>
              </a:ext>
            </a:extLst>
          </p:cNvPr>
          <p:cNvSpPr txBox="1"/>
          <p:nvPr/>
        </p:nvSpPr>
        <p:spPr>
          <a:xfrm>
            <a:off x="0" y="0"/>
            <a:ext cx="12192000" cy="4812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РЕСПУБЛИКИ БЕЛАРУСЬ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Учреждение образования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«Гомельский государственный технический университет 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имени П.О. Сухого»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Факультет автоматизированных и информационных систем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Кафедра «Информационные технологии»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направление специальности 1-40 05 01-12 Информационные системы и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технологии (в игровой индустрии)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КУРСОВАЯ РАБОТА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 дисциплине «Распределённые информационные системы»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  <a:spcAft>
                <a:spcPts val="10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 тему: «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slave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 на основе TCP для применения оператора Робертса к изображению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936313-0F68-4F7A-8332-0C375C926DD8}"/>
              </a:ext>
            </a:extLst>
          </p:cNvPr>
          <p:cNvSpPr txBox="1"/>
          <p:nvPr/>
        </p:nvSpPr>
        <p:spPr>
          <a:xfrm>
            <a:off x="5448822" y="5419677"/>
            <a:ext cx="67431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90825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Исполнитель: студент группы ИТИ-41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870960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Ковшаров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Г. Ю.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90825">
              <a:tabLst>
                <a:tab pos="4140835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Руководитель: доцент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870960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Комраков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В. В.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171E900-3C53-01DF-8415-BE0FE5A7C5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254"/>
          <a:stretch/>
        </p:blipFill>
        <p:spPr>
          <a:xfrm>
            <a:off x="-175188" y="5602682"/>
            <a:ext cx="1654498" cy="131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705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145" y="427990"/>
            <a:ext cx="10515600" cy="1325563"/>
          </a:xfrm>
        </p:spPr>
        <p:txBody>
          <a:bodyPr>
            <a:normAutofit/>
          </a:bodyPr>
          <a:lstStyle/>
          <a:p>
            <a:r>
              <a:rPr lang="ru-RU" altLang="en-US" dirty="0"/>
              <a:t>Актуальность темы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145" y="1753870"/>
            <a:ext cx="10515600" cy="4351338"/>
          </a:xfrm>
        </p:spPr>
        <p:txBody>
          <a:bodyPr/>
          <a:lstStyle/>
          <a:p>
            <a:pPr algn="just"/>
            <a:r>
              <a:rPr lang="ru-RU" dirty="0"/>
              <a:t>постоянный рост объёмов визуальных данных</a:t>
            </a:r>
            <a:r>
              <a:rPr lang="en-US" altLang="en-US" dirty="0">
                <a:sym typeface="+mn-ea"/>
              </a:rPr>
              <a:t>;</a:t>
            </a:r>
            <a:endParaRPr lang="ru-RU" altLang="en-US" dirty="0">
              <a:sym typeface="+mn-ea"/>
            </a:endParaRPr>
          </a:p>
          <a:p>
            <a:pPr algn="just"/>
            <a:r>
              <a:rPr lang="ru-RU" dirty="0"/>
              <a:t>необходимость быстрой и распределённой обработки изображений</a:t>
            </a:r>
            <a:r>
              <a:rPr lang="en-US" altLang="en-US" dirty="0">
                <a:sym typeface="+mn-ea"/>
              </a:rPr>
              <a:t>;</a:t>
            </a:r>
            <a:endParaRPr lang="ru-RU" altLang="en-US" dirty="0">
              <a:sym typeface="+mn-ea"/>
            </a:endParaRPr>
          </a:p>
          <a:p>
            <a:pPr algn="just"/>
            <a:r>
              <a:rPr lang="ru-RU" dirty="0"/>
              <a:t>требование работы в режиме реального времени</a:t>
            </a:r>
            <a:r>
              <a:rPr lang="en-US" dirty="0">
                <a:sym typeface="+mn-ea"/>
              </a:rPr>
              <a:t>;</a:t>
            </a:r>
          </a:p>
          <a:p>
            <a:pPr algn="just"/>
            <a:r>
              <a:rPr lang="ru-RU" dirty="0"/>
              <a:t>масштабируемость и повышение производительности благодаря модели </a:t>
            </a:r>
            <a:r>
              <a:rPr lang="ru-RU" i="1" dirty="0"/>
              <a:t>Master</a:t>
            </a:r>
            <a:r>
              <a:rPr lang="ru-RU" dirty="0"/>
              <a:t>–</a:t>
            </a:r>
            <a:r>
              <a:rPr lang="ru-RU" i="1" dirty="0" err="1"/>
              <a:t>Slave</a:t>
            </a:r>
            <a:r>
              <a:rPr lang="en-US" dirty="0">
                <a:sym typeface="+mn-ea"/>
              </a:rPr>
              <a:t>;</a:t>
            </a:r>
          </a:p>
          <a:p>
            <a:pPr algn="just"/>
            <a:r>
              <a:rPr lang="ru-RU" dirty="0"/>
              <a:t>простота и эффективность оператора Робертса для распределённых систем</a:t>
            </a:r>
            <a:r>
              <a:rPr lang="en-US" dirty="0">
                <a:sym typeface="+mn-ea"/>
              </a:rPr>
              <a:t>.</a:t>
            </a:r>
            <a:endParaRPr lang="ru-RU" altLang="en-US" dirty="0">
              <a:sym typeface="+mn-ea"/>
            </a:endParaRPr>
          </a:p>
          <a:p>
            <a:endParaRPr lang="ru-RU" altLang="en-US" dirty="0">
              <a:sym typeface="+mn-ea"/>
            </a:endParaRPr>
          </a:p>
          <a:p>
            <a:endParaRPr lang="ru-RU" altLang="en-US" dirty="0">
              <a:sym typeface="+mn-ea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B440480-1B77-9EB1-5B15-2C2D33F01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Рост объёмов визуальных данных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Рисунок 1">
            <a:extLst>
              <a:ext uri="{FF2B5EF4-FFF2-40B4-BE49-F238E27FC236}">
                <a16:creationId xmlns:a16="http://schemas.microsoft.com/office/drawing/2014/main" id="{E4A65661-720C-2113-DAEC-2C570868763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254"/>
          <a:stretch/>
        </p:blipFill>
        <p:spPr>
          <a:xfrm>
            <a:off x="-175188" y="5594518"/>
            <a:ext cx="1654498" cy="13165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510"/>
            <a:ext cx="10515600" cy="1325563"/>
          </a:xfrm>
        </p:spPr>
        <p:txBody>
          <a:bodyPr/>
          <a:lstStyle/>
          <a:p>
            <a:r>
              <a:rPr lang="ru-RU" altLang="en-US" dirty="0"/>
              <a:t>Постановка задачи</a:t>
            </a:r>
            <a:r>
              <a:rPr lang="en-US" altLang="en-US" dirty="0"/>
              <a:t> </a:t>
            </a:r>
            <a:r>
              <a:rPr lang="ru-RU" altLang="en-US" dirty="0"/>
              <a:t>и основные цели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33781A-C36C-329D-FE3B-462597BFE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2967"/>
            <a:ext cx="10515600" cy="4351338"/>
          </a:xfrm>
        </p:spPr>
        <p:txBody>
          <a:bodyPr/>
          <a:lstStyle/>
          <a:p>
            <a:pPr algn="just"/>
            <a:r>
              <a:rPr lang="ru-RU" dirty="0"/>
              <a:t>проанализировать методы обработки изображений и особенности оператора Робертса для выделения границ</a:t>
            </a:r>
            <a:r>
              <a:rPr lang="en-US" altLang="en-US" dirty="0">
                <a:sym typeface="+mn-ea"/>
              </a:rPr>
              <a:t>;</a:t>
            </a:r>
            <a:endParaRPr lang="ru-RU" altLang="en-US" dirty="0">
              <a:sym typeface="+mn-ea"/>
            </a:endParaRPr>
          </a:p>
          <a:p>
            <a:pPr algn="just"/>
            <a:r>
              <a:rPr lang="ru-RU" dirty="0"/>
              <a:t>определить архитектуру распределённой системы, включая структуру модулей и принципы их взаимодействия</a:t>
            </a:r>
            <a:r>
              <a:rPr lang="en-US" altLang="en-US" dirty="0">
                <a:sym typeface="+mn-ea"/>
              </a:rPr>
              <a:t>;</a:t>
            </a:r>
            <a:endParaRPr lang="ru-RU" altLang="en-US" dirty="0">
              <a:sym typeface="+mn-ea"/>
            </a:endParaRPr>
          </a:p>
          <a:p>
            <a:pPr algn="just"/>
            <a:r>
              <a:rPr lang="ru-RU" dirty="0"/>
              <a:t>реализовать программный комплекс, обеспечивающий параллельную обработку изображений</a:t>
            </a:r>
            <a:r>
              <a:rPr lang="en-US" dirty="0">
                <a:sym typeface="+mn-ea"/>
              </a:rPr>
              <a:t>;</a:t>
            </a:r>
          </a:p>
          <a:p>
            <a:pPr algn="just"/>
            <a:r>
              <a:rPr lang="ru-RU" dirty="0"/>
              <a:t>провести тестирование разработанной системы и оценить её эффективность</a:t>
            </a:r>
            <a:r>
              <a:rPr lang="en-US" dirty="0">
                <a:sym typeface="+mn-ea"/>
              </a:rPr>
              <a:t>.</a:t>
            </a:r>
          </a:p>
          <a:p>
            <a:endParaRPr lang="ru-RU" altLang="en-US" dirty="0">
              <a:sym typeface="+mn-ea"/>
            </a:endParaRPr>
          </a:p>
          <a:p>
            <a:endParaRPr lang="ru-RU" altLang="en-US" dirty="0">
              <a:sym typeface="+mn-ea"/>
            </a:endParaRPr>
          </a:p>
        </p:txBody>
      </p:sp>
      <p:pic>
        <p:nvPicPr>
          <p:cNvPr id="3" name="Рисунок 1">
            <a:extLst>
              <a:ext uri="{FF2B5EF4-FFF2-40B4-BE49-F238E27FC236}">
                <a16:creationId xmlns:a16="http://schemas.microsoft.com/office/drawing/2014/main" id="{B625D048-0355-494C-8BC1-8625AB3F6FE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254"/>
          <a:stretch/>
        </p:blipFill>
        <p:spPr>
          <a:xfrm>
            <a:off x="-175188" y="5602682"/>
            <a:ext cx="1654498" cy="13165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7800"/>
            <a:ext cx="10515600" cy="1325563"/>
          </a:xfrm>
        </p:spPr>
        <p:txBody>
          <a:bodyPr/>
          <a:lstStyle/>
          <a:p>
            <a:r>
              <a:rPr lang="ru-RU" dirty="0"/>
              <a:t>Модель </a:t>
            </a:r>
            <a:r>
              <a:rPr lang="en-US" dirty="0"/>
              <a:t>Master-Slave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Используется для организации распределённых вычислений. Главный узел (</a:t>
            </a:r>
            <a:r>
              <a:rPr lang="ru-RU" i="1" dirty="0"/>
              <a:t>Master</a:t>
            </a:r>
            <a:r>
              <a:rPr lang="ru-RU" dirty="0"/>
              <a:t>) управляет распределением задач между рабочими узлами (</a:t>
            </a:r>
            <a:r>
              <a:rPr lang="ru-RU" i="1" dirty="0" err="1"/>
              <a:t>Slaves</a:t>
            </a:r>
            <a:r>
              <a:rPr lang="ru-RU" dirty="0"/>
              <a:t>), которые выполняют вычисления параллельно. Такая структура обеспечивает масштабируемость, повышает производительность и позволяет обрабатывать данные в реальном времени.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DF462D-0029-1E59-68C6-87F95CC20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703" y="3813019"/>
            <a:ext cx="7004716" cy="2768756"/>
          </a:xfrm>
          <a:prstGeom prst="rect">
            <a:avLst/>
          </a:prstGeom>
        </p:spPr>
      </p:pic>
      <p:pic>
        <p:nvPicPr>
          <p:cNvPr id="4" name="Рисунок 1">
            <a:extLst>
              <a:ext uri="{FF2B5EF4-FFF2-40B4-BE49-F238E27FC236}">
                <a16:creationId xmlns:a16="http://schemas.microsoft.com/office/drawing/2014/main" id="{F38345FE-C9E7-8B60-4880-79D16976F0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254"/>
          <a:stretch/>
        </p:blipFill>
        <p:spPr>
          <a:xfrm>
            <a:off x="-175188" y="5602682"/>
            <a:ext cx="1654498" cy="13165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Round Robin scheduler diagram. | Download Scientific Diagram">
            <a:extLst>
              <a:ext uri="{FF2B5EF4-FFF2-40B4-BE49-F238E27FC236}">
                <a16:creationId xmlns:a16="http://schemas.microsoft.com/office/drawing/2014/main" id="{2FFF1E37-9D58-8168-6A94-6B66529739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571" y="3429000"/>
            <a:ext cx="4979429" cy="31578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780" y="398780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/>
              <a:t>Алгоритм планирования </a:t>
            </a:r>
            <a:r>
              <a:rPr lang="en-US" dirty="0"/>
              <a:t>Round Robin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405006D-4541-79F2-922B-10613D4A6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029575" cy="30607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Используется для равномерного распределения задач между процессами или узлами системы. Каждый процесс получает фиксированный квант времени, после чего управление передаётся следующему, что обеспечивает справедливое распределение ресурсов и предсказуемое время отклика в распределённых вычислениях.</a:t>
            </a:r>
          </a:p>
        </p:txBody>
      </p:sp>
      <p:pic>
        <p:nvPicPr>
          <p:cNvPr id="4" name="Рисунок 1">
            <a:extLst>
              <a:ext uri="{FF2B5EF4-FFF2-40B4-BE49-F238E27FC236}">
                <a16:creationId xmlns:a16="http://schemas.microsoft.com/office/drawing/2014/main" id="{0BD1C65D-975F-4637-E737-4069581A8CA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254"/>
          <a:stretch/>
        </p:blipFill>
        <p:spPr>
          <a:xfrm>
            <a:off x="-175188" y="5602682"/>
            <a:ext cx="1654498" cy="131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493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BB0D84-BA44-F6C1-2D7F-019EAB0D6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3730914"/>
            <a:ext cx="6276974" cy="30318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8600"/>
            <a:ext cx="10515600" cy="1325563"/>
          </a:xfrm>
        </p:spPr>
        <p:txBody>
          <a:bodyPr/>
          <a:lstStyle/>
          <a:p>
            <a:r>
              <a:rPr lang="ru-RU" dirty="0"/>
              <a:t>Сетевые протоколы </a:t>
            </a:r>
            <a:r>
              <a:rPr lang="en-US" dirty="0"/>
              <a:t>TCP/UDP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639425" cy="4403725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Представляют собой два основных протокола передачи данных в сетях. </a:t>
            </a:r>
            <a:r>
              <a:rPr lang="ru-RU" i="1" dirty="0"/>
              <a:t>TCP</a:t>
            </a:r>
            <a:r>
              <a:rPr lang="ru-RU" dirty="0"/>
              <a:t> обеспечивает надёжную доставку и контроль порядка пакетов, тогда как </a:t>
            </a:r>
            <a:r>
              <a:rPr lang="ru-RU" i="1" dirty="0"/>
              <a:t>UDP</a:t>
            </a:r>
            <a:r>
              <a:rPr lang="ru-RU" dirty="0"/>
              <a:t> работает быстрее, но без гарантии доставки и последовательности. Выбор протокола зависит от требований к скорости и надёжности передачи данных в распределённых системах.</a:t>
            </a:r>
          </a:p>
          <a:p>
            <a:endParaRPr lang="en-US" dirty="0"/>
          </a:p>
        </p:txBody>
      </p:sp>
      <p:pic>
        <p:nvPicPr>
          <p:cNvPr id="5" name="Рисунок 1">
            <a:extLst>
              <a:ext uri="{FF2B5EF4-FFF2-40B4-BE49-F238E27FC236}">
                <a16:creationId xmlns:a16="http://schemas.microsoft.com/office/drawing/2014/main" id="{810178E4-DB83-5905-07E9-914D193027C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254"/>
          <a:stretch/>
        </p:blipFill>
        <p:spPr>
          <a:xfrm>
            <a:off x="-175188" y="5602682"/>
            <a:ext cx="1654498" cy="13165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780" y="398780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/>
              <a:t>Алгоритм Робертса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405006D-4541-79F2-922B-10613D4A6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4422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Представляет собой простой метод выделения границ, основанный на вычислении разности яркости соседних пикселей по диагонали с помощью небольших </a:t>
            </a:r>
            <a:r>
              <a:rPr lang="ru-RU" dirty="0" err="1"/>
              <a:t>свёрточных</a:t>
            </a:r>
            <a:r>
              <a:rPr lang="ru-RU" dirty="0"/>
              <a:t> матриц. Он быстро выявляет контуры и отличается низкой вычислительной сложностью, что делает его удобным для систем реального времени.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07FE6C-511C-69E4-BA68-F8E8EF659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8952" y="467159"/>
            <a:ext cx="3353268" cy="5992061"/>
          </a:xfrm>
          <a:prstGeom prst="rect">
            <a:avLst/>
          </a:prstGeom>
        </p:spPr>
      </p:pic>
      <p:pic>
        <p:nvPicPr>
          <p:cNvPr id="3" name="Рисунок 1">
            <a:extLst>
              <a:ext uri="{FF2B5EF4-FFF2-40B4-BE49-F238E27FC236}">
                <a16:creationId xmlns:a16="http://schemas.microsoft.com/office/drawing/2014/main" id="{A7599910-30CF-DB23-7840-FA6352BAE35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254"/>
          <a:stretch/>
        </p:blipFill>
        <p:spPr>
          <a:xfrm>
            <a:off x="-175188" y="5602682"/>
            <a:ext cx="1654498" cy="13165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780" y="398780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/>
              <a:t>Архитектура распределённой системы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405006D-4541-79F2-922B-10613D4A6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42022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Представляет собой клиент-серверную архитектуру на основе модели распределённых вычислений </a:t>
            </a:r>
            <a:r>
              <a:rPr lang="ru-RU" i="1" dirty="0"/>
              <a:t>Master</a:t>
            </a:r>
            <a:r>
              <a:rPr lang="ru-RU" dirty="0"/>
              <a:t>-</a:t>
            </a:r>
            <a:r>
              <a:rPr lang="ru-RU" i="1" dirty="0" err="1"/>
              <a:t>Slave</a:t>
            </a:r>
            <a:r>
              <a:rPr lang="ru-RU" dirty="0"/>
              <a:t>.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AE513B-4445-F71E-AFFD-097BCEE7C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923" y="2729977"/>
            <a:ext cx="6313154" cy="3548268"/>
          </a:xfrm>
          <a:prstGeom prst="rect">
            <a:avLst/>
          </a:prstGeom>
        </p:spPr>
      </p:pic>
      <p:pic>
        <p:nvPicPr>
          <p:cNvPr id="3" name="Рисунок 1">
            <a:extLst>
              <a:ext uri="{FF2B5EF4-FFF2-40B4-BE49-F238E27FC236}">
                <a16:creationId xmlns:a16="http://schemas.microsoft.com/office/drawing/2014/main" id="{EEBD8D40-9BFD-7372-9D70-C3BE4B2D547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254"/>
          <a:stretch/>
        </p:blipFill>
        <p:spPr>
          <a:xfrm>
            <a:off x="-175188" y="5602682"/>
            <a:ext cx="1654498" cy="131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637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26C08B-E21C-AD5B-D222-D4DE54D04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025" y="3097766"/>
            <a:ext cx="6010276" cy="35983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925"/>
            <a:ext cx="10515600" cy="1325563"/>
          </a:xfrm>
        </p:spPr>
        <p:txBody>
          <a:bodyPr/>
          <a:lstStyle/>
          <a:p>
            <a:r>
              <a:rPr lang="ru-RU" dirty="0"/>
              <a:t>Результаты нагрузочного тестирования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49FDB6-BD8D-E26B-75AD-C7AA59DA6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Результаты доказывают преимущество многопоточных , вычислений, однако ускорение не является линейным, так как в программе присутствует последовательный код, а так же увеличиваются накладные расходы.</a:t>
            </a:r>
            <a:endParaRPr lang="en-GB" dirty="0"/>
          </a:p>
        </p:txBody>
      </p:sp>
      <p:pic>
        <p:nvPicPr>
          <p:cNvPr id="3" name="Рисунок 1">
            <a:extLst>
              <a:ext uri="{FF2B5EF4-FFF2-40B4-BE49-F238E27FC236}">
                <a16:creationId xmlns:a16="http://schemas.microsoft.com/office/drawing/2014/main" id="{F09C8DFD-05E9-9787-8584-6D82EDD3D7C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254"/>
          <a:stretch/>
        </p:blipFill>
        <p:spPr>
          <a:xfrm>
            <a:off x="-175188" y="5602682"/>
            <a:ext cx="1654498" cy="13165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2725"/>
            <a:ext cx="10515600" cy="1325563"/>
          </a:xfrm>
        </p:spPr>
        <p:txBody>
          <a:bodyPr/>
          <a:lstStyle/>
          <a:p>
            <a:r>
              <a:rPr lang="ru-RU"/>
              <a:t>Графический интерфейс приложения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E60F9B3-07F4-AF22-AEFF-C645194022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1501" y="1538288"/>
            <a:ext cx="8328998" cy="5194300"/>
          </a:xfrm>
        </p:spPr>
      </p:pic>
      <p:pic>
        <p:nvPicPr>
          <p:cNvPr id="3" name="Рисунок 1">
            <a:extLst>
              <a:ext uri="{FF2B5EF4-FFF2-40B4-BE49-F238E27FC236}">
                <a16:creationId xmlns:a16="http://schemas.microsoft.com/office/drawing/2014/main" id="{AB423BC7-4404-D712-07DB-EDD1E903F87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254"/>
          <a:stretch/>
        </p:blipFill>
        <p:spPr>
          <a:xfrm>
            <a:off x="-175188" y="5602682"/>
            <a:ext cx="1654498" cy="13165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ходе работы была разработана распределённая система обработки изображений с архитектурой </a:t>
            </a:r>
            <a:r>
              <a:rPr lang="ru-RU" i="1" dirty="0"/>
              <a:t>Master</a:t>
            </a:r>
            <a:r>
              <a:rPr lang="ru-RU" dirty="0"/>
              <a:t>–</a:t>
            </a:r>
            <a:r>
              <a:rPr lang="ru-RU" i="1" dirty="0" err="1"/>
              <a:t>Slave</a:t>
            </a:r>
            <a:r>
              <a:rPr lang="ru-RU" dirty="0"/>
              <a:t>, использующая алгоритм Робертса для выделения границ. Система обеспечивает параллельную обработку данных с применением алгоритма </a:t>
            </a:r>
            <a:r>
              <a:rPr lang="ru-RU" i="1" dirty="0" err="1"/>
              <a:t>Round</a:t>
            </a:r>
            <a:r>
              <a:rPr lang="ru-RU" dirty="0"/>
              <a:t> </a:t>
            </a:r>
            <a:r>
              <a:rPr lang="ru-RU" i="1" dirty="0" err="1"/>
              <a:t>Robin</a:t>
            </a:r>
            <a:r>
              <a:rPr lang="ru-RU" dirty="0"/>
              <a:t> и работу клиентской части в реальном времени через протоколы </a:t>
            </a:r>
            <a:r>
              <a:rPr lang="ru-RU" i="1" dirty="0"/>
              <a:t>TCP</a:t>
            </a:r>
            <a:r>
              <a:rPr lang="ru-RU" dirty="0"/>
              <a:t>/</a:t>
            </a:r>
            <a:r>
              <a:rPr lang="ru-RU" i="1" dirty="0"/>
              <a:t>UDP</a:t>
            </a:r>
            <a:r>
              <a:rPr lang="ru-RU" dirty="0"/>
              <a:t>. А так же доказали преимущество параллельных вычислений. Все поставленные цели были  достигнуты.</a:t>
            </a:r>
            <a:endParaRPr lang="en-US" dirty="0"/>
          </a:p>
        </p:txBody>
      </p:sp>
      <p:pic>
        <p:nvPicPr>
          <p:cNvPr id="4" name="Рисунок 1">
            <a:extLst>
              <a:ext uri="{FF2B5EF4-FFF2-40B4-BE49-F238E27FC236}">
                <a16:creationId xmlns:a16="http://schemas.microsoft.com/office/drawing/2014/main" id="{616D65D4-4429-E5A6-0E27-BE8B735DA76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254"/>
          <a:stretch/>
        </p:blipFill>
        <p:spPr>
          <a:xfrm>
            <a:off x="-175188" y="5602682"/>
            <a:ext cx="1654498" cy="13165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473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Актуальность темы</vt:lpstr>
      <vt:lpstr>Постановка задачи и основные цели</vt:lpstr>
      <vt:lpstr>Модель Master-Slave</vt:lpstr>
      <vt:lpstr>Алгоритм планирования Round Robin</vt:lpstr>
      <vt:lpstr>Сетевые протоколы TCP/UDP</vt:lpstr>
      <vt:lpstr>Алгоритм Робертса</vt:lpstr>
      <vt:lpstr>Архитектура распределённой системы</vt:lpstr>
      <vt:lpstr>Результаты нагрузочного тестирования</vt:lpstr>
      <vt:lpstr>Графический интерфейс приложения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3D-реконструкция поясничного отдела позвоночника человека методом dual contouring</dc:title>
  <dc:creator>Глеб Ковшаров</dc:creator>
  <cp:lastModifiedBy>Глеб Ковшаров</cp:lastModifiedBy>
  <cp:revision>120</cp:revision>
  <dcterms:created xsi:type="dcterms:W3CDTF">2024-05-17T08:47:11Z</dcterms:created>
  <dcterms:modified xsi:type="dcterms:W3CDTF">2025-12-11T14:01:42Z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CE66D5626B914176B2441CD52C468671_12</vt:lpwstr>
  </property>
  <property fmtid="{D5CDD505-2E9C-101B-9397-08002B2CF9AE}" pid="3" name="KSOProductBuildVer">
    <vt:lpwstr>1033-12.2.0.16909</vt:lpwstr>
  </property>
</Properties>
</file>