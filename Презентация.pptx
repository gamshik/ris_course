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0" r:id="rId5"/>
    <p:sldId id="265" r:id="rId6"/>
    <p:sldId id="261" r:id="rId7"/>
    <p:sldId id="259" r:id="rId8"/>
    <p:sldId id="266" r:id="rId9"/>
    <p:sldId id="263" r:id="rId10"/>
    <p:sldId id="262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>
      <p:cViewPr>
        <p:scale>
          <a:sx n="100" d="100"/>
          <a:sy n="100" d="100"/>
        </p:scale>
        <p:origin x="936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691198"/>
            <a:ext cx="9144000" cy="2387600"/>
          </a:xfrm>
        </p:spPr>
        <p:txBody>
          <a:bodyPr/>
          <a:lstStyle/>
          <a:p>
            <a:r>
              <a:rPr lang="ru-RU" sz="4800" dirty="0"/>
              <a:t>Master-</a:t>
            </a:r>
            <a:r>
              <a:rPr lang="ru-RU" sz="4800" dirty="0" err="1"/>
              <a:t>slave</a:t>
            </a:r>
            <a:r>
              <a:rPr lang="ru-RU" sz="4800" dirty="0"/>
              <a:t> система на основе TCP для применения оператора Робертса к изображению</a:t>
            </a:r>
            <a:endParaRPr lang="en-US" sz="48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1945" y="4832668"/>
            <a:ext cx="9144000" cy="1655762"/>
          </a:xfrm>
        </p:spPr>
        <p:txBody>
          <a:bodyPr/>
          <a:lstStyle/>
          <a:p>
            <a:pPr algn="l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Выполил: студент группы ИТИ-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41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</a:p>
          <a:p>
            <a:pPr algn="l"/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Ковшаров Г. Ю.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Руководитель: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Комраков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В. В.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9145" y="427990"/>
            <a:ext cx="10515600" cy="1325563"/>
          </a:xfrm>
        </p:spPr>
        <p:txBody>
          <a:bodyPr>
            <a:normAutofit/>
          </a:bodyPr>
          <a:lstStyle/>
          <a:p>
            <a:r>
              <a:rPr lang="ru-RU" altLang="en-US" dirty="0"/>
              <a:t>Актуальность темы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9145" y="1753870"/>
            <a:ext cx="10515600" cy="4351338"/>
          </a:xfrm>
        </p:spPr>
        <p:txBody>
          <a:bodyPr/>
          <a:lstStyle/>
          <a:p>
            <a:pPr algn="just"/>
            <a:r>
              <a:rPr lang="ru-RU" dirty="0"/>
              <a:t>постоянный рост объёмов визуальных данных</a:t>
            </a:r>
            <a:r>
              <a:rPr lang="en-US" altLang="en-US" dirty="0">
                <a:sym typeface="+mn-ea"/>
              </a:rPr>
              <a:t>;</a:t>
            </a:r>
            <a:endParaRPr lang="ru-RU" altLang="en-US" dirty="0">
              <a:sym typeface="+mn-ea"/>
            </a:endParaRPr>
          </a:p>
          <a:p>
            <a:pPr algn="just"/>
            <a:r>
              <a:rPr lang="ru-RU" dirty="0"/>
              <a:t>необходимость быстрой и распределённой обработки изображений</a:t>
            </a:r>
            <a:r>
              <a:rPr lang="en-US" altLang="en-US" dirty="0">
                <a:sym typeface="+mn-ea"/>
              </a:rPr>
              <a:t>;</a:t>
            </a:r>
            <a:endParaRPr lang="ru-RU" altLang="en-US" dirty="0">
              <a:sym typeface="+mn-ea"/>
            </a:endParaRPr>
          </a:p>
          <a:p>
            <a:pPr algn="just"/>
            <a:r>
              <a:rPr lang="ru-RU" dirty="0"/>
              <a:t>требование работы в режиме реального времени</a:t>
            </a:r>
            <a:r>
              <a:rPr lang="en-US" dirty="0">
                <a:sym typeface="+mn-ea"/>
              </a:rPr>
              <a:t>;</a:t>
            </a:r>
          </a:p>
          <a:p>
            <a:pPr algn="just"/>
            <a:r>
              <a:rPr lang="ru-RU" dirty="0"/>
              <a:t>масштабируемость и повышение производительности благодаря модели </a:t>
            </a:r>
            <a:r>
              <a:rPr lang="ru-RU" i="1" dirty="0"/>
              <a:t>Master</a:t>
            </a:r>
            <a:r>
              <a:rPr lang="ru-RU" dirty="0"/>
              <a:t>–</a:t>
            </a:r>
            <a:r>
              <a:rPr lang="ru-RU" i="1" dirty="0" err="1"/>
              <a:t>Slave</a:t>
            </a:r>
            <a:r>
              <a:rPr lang="en-US" dirty="0">
                <a:sym typeface="+mn-ea"/>
              </a:rPr>
              <a:t>;</a:t>
            </a:r>
          </a:p>
          <a:p>
            <a:pPr algn="just"/>
            <a:r>
              <a:rPr lang="ru-RU" dirty="0"/>
              <a:t>простота и эффективность оператора Робертса для распределённых систем</a:t>
            </a:r>
            <a:r>
              <a:rPr lang="en-US" dirty="0">
                <a:sym typeface="+mn-ea"/>
              </a:rPr>
              <a:t>.</a:t>
            </a:r>
            <a:endParaRPr lang="ru-RU" altLang="en-US" dirty="0">
              <a:sym typeface="+mn-ea"/>
            </a:endParaRPr>
          </a:p>
          <a:p>
            <a:endParaRPr lang="ru-RU" altLang="en-US" dirty="0">
              <a:sym typeface="+mn-ea"/>
            </a:endParaRPr>
          </a:p>
          <a:p>
            <a:endParaRPr lang="ru-RU" altLang="en-US" dirty="0">
              <a:sym typeface="+mn-ea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B440480-1B77-9EB1-5B15-2C2D33F016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Рост объёмов визуальных данных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0510"/>
            <a:ext cx="10515600" cy="1325563"/>
          </a:xfrm>
        </p:spPr>
        <p:txBody>
          <a:bodyPr/>
          <a:lstStyle/>
          <a:p>
            <a:r>
              <a:rPr lang="ru-RU" altLang="en-US" dirty="0"/>
              <a:t>Постановка задачи</a:t>
            </a:r>
            <a:r>
              <a:rPr lang="en-US" altLang="en-US" dirty="0"/>
              <a:t> </a:t>
            </a:r>
            <a:r>
              <a:rPr lang="ru-RU" altLang="en-US" dirty="0"/>
              <a:t>и основные цели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33781A-C36C-329D-FE3B-462597BFE7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2967"/>
            <a:ext cx="10515600" cy="4351338"/>
          </a:xfrm>
        </p:spPr>
        <p:txBody>
          <a:bodyPr/>
          <a:lstStyle/>
          <a:p>
            <a:pPr algn="just"/>
            <a:r>
              <a:rPr lang="ru-RU" dirty="0"/>
              <a:t>проанализировать методы обработки изображений и особенности оператора Робертса для выделения границ</a:t>
            </a:r>
            <a:r>
              <a:rPr lang="en-US" altLang="en-US" dirty="0">
                <a:sym typeface="+mn-ea"/>
              </a:rPr>
              <a:t>;</a:t>
            </a:r>
            <a:endParaRPr lang="ru-RU" altLang="en-US" dirty="0">
              <a:sym typeface="+mn-ea"/>
            </a:endParaRPr>
          </a:p>
          <a:p>
            <a:pPr algn="just"/>
            <a:r>
              <a:rPr lang="ru-RU" dirty="0"/>
              <a:t>определить архитектуру распределённой системы, включая структуру модулей и принципы их взаимодействия</a:t>
            </a:r>
            <a:r>
              <a:rPr lang="en-US" altLang="en-US" dirty="0">
                <a:sym typeface="+mn-ea"/>
              </a:rPr>
              <a:t>;</a:t>
            </a:r>
            <a:endParaRPr lang="ru-RU" altLang="en-US" dirty="0">
              <a:sym typeface="+mn-ea"/>
            </a:endParaRPr>
          </a:p>
          <a:p>
            <a:pPr algn="just"/>
            <a:r>
              <a:rPr lang="ru-RU" dirty="0"/>
              <a:t>реализовать программный комплекс, обеспечивающий параллельную обработку изображений</a:t>
            </a:r>
            <a:r>
              <a:rPr lang="en-US" dirty="0">
                <a:sym typeface="+mn-ea"/>
              </a:rPr>
              <a:t>;</a:t>
            </a:r>
          </a:p>
          <a:p>
            <a:pPr algn="just"/>
            <a:r>
              <a:rPr lang="ru-RU" dirty="0"/>
              <a:t>провести тестирование разработанной системы и оценить её эффективность</a:t>
            </a:r>
            <a:r>
              <a:rPr lang="en-US" dirty="0">
                <a:sym typeface="+mn-ea"/>
              </a:rPr>
              <a:t>.</a:t>
            </a:r>
          </a:p>
          <a:p>
            <a:endParaRPr lang="ru-RU" altLang="en-US" dirty="0">
              <a:sym typeface="+mn-ea"/>
            </a:endParaRPr>
          </a:p>
          <a:p>
            <a:endParaRPr lang="ru-RU" altLang="en-US" dirty="0"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77800"/>
            <a:ext cx="10515600" cy="1325563"/>
          </a:xfrm>
        </p:spPr>
        <p:txBody>
          <a:bodyPr/>
          <a:lstStyle/>
          <a:p>
            <a:r>
              <a:rPr lang="ru-RU" dirty="0"/>
              <a:t>Модель </a:t>
            </a:r>
            <a:r>
              <a:rPr lang="en-US" dirty="0"/>
              <a:t>Master-Slave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Используется для организации распределённых вычислений. Главный узел (</a:t>
            </a:r>
            <a:r>
              <a:rPr lang="ru-RU" i="1" dirty="0"/>
              <a:t>Master</a:t>
            </a:r>
            <a:r>
              <a:rPr lang="ru-RU" dirty="0"/>
              <a:t>) управляет распределением задач между рабочими узлами (</a:t>
            </a:r>
            <a:r>
              <a:rPr lang="ru-RU" i="1" dirty="0" err="1"/>
              <a:t>Slaves</a:t>
            </a:r>
            <a:r>
              <a:rPr lang="ru-RU" dirty="0"/>
              <a:t>), которые выполняют вычисления параллельно. Такая структура обеспечивает масштабируемость, повышает производительность и позволяет обрабатывать данные в реальном времени.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BDF462D-0029-1E59-68C6-87F95CC20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703" y="3813019"/>
            <a:ext cx="7004716" cy="27687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Round Robin scheduler diagram. | Download Scientific Diagram">
            <a:extLst>
              <a:ext uri="{FF2B5EF4-FFF2-40B4-BE49-F238E27FC236}">
                <a16:creationId xmlns:a16="http://schemas.microsoft.com/office/drawing/2014/main" id="{2FFF1E37-9D58-8168-6A94-6B665297394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2571" y="3429000"/>
            <a:ext cx="4979429" cy="3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9780" y="398780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Алгоритм планирования </a:t>
            </a:r>
            <a:r>
              <a:rPr lang="en-US" dirty="0"/>
              <a:t>Round Robin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405006D-4541-79F2-922B-10613D4A6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029575" cy="30607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Используется для равномерного распределения задач между процессами или узлами системы. Каждый процесс получает фиксированный квант времени, после чего управление передаётся следующему, что обеспечивает справедливое распределение ресурсов и предсказуемое время отклика в распределённых вычислениях.</a:t>
            </a:r>
          </a:p>
        </p:txBody>
      </p:sp>
    </p:spTree>
    <p:extLst>
      <p:ext uri="{BB962C8B-B14F-4D97-AF65-F5344CB8AC3E}">
        <p14:creationId xmlns:p14="http://schemas.microsoft.com/office/powerpoint/2010/main" val="15594933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6BB0D84-BA44-F6C1-2D7F-019EAB0D6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0" y="3730914"/>
            <a:ext cx="6276974" cy="303183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1325563"/>
          </a:xfrm>
        </p:spPr>
        <p:txBody>
          <a:bodyPr/>
          <a:lstStyle/>
          <a:p>
            <a:r>
              <a:rPr lang="ru-RU" dirty="0"/>
              <a:t>Сетевые протоколы </a:t>
            </a:r>
            <a:r>
              <a:rPr lang="en-US" dirty="0"/>
              <a:t>TCP/UDP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0639425" cy="4403725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Представляют собой два основных протокола передачи данных в сетях. </a:t>
            </a:r>
            <a:r>
              <a:rPr lang="ru-RU" i="1" dirty="0"/>
              <a:t>TCP</a:t>
            </a:r>
            <a:r>
              <a:rPr lang="ru-RU" dirty="0"/>
              <a:t> обеспечивает надёжную доставку и контроль порядка пакетов, тогда как </a:t>
            </a:r>
            <a:r>
              <a:rPr lang="ru-RU" i="1" dirty="0"/>
              <a:t>UDP</a:t>
            </a:r>
            <a:r>
              <a:rPr lang="ru-RU" dirty="0"/>
              <a:t> работает быстрее, но без гарантии доставки и последовательности. Выбор протокола зависит от требований к скорости и надёжности передачи данных в распределённых системах.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9780" y="398780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Алгоритм Робертса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405006D-4541-79F2-922B-10613D4A6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4422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Представляет собой простой метод выделения границ, основанный на вычислении разности яркости соседних пикселей по диагонали с помощью небольших </a:t>
            </a:r>
            <a:r>
              <a:rPr lang="ru-RU" dirty="0" err="1"/>
              <a:t>свёрточных</a:t>
            </a:r>
            <a:r>
              <a:rPr lang="ru-RU" dirty="0"/>
              <a:t> матриц. Он быстро выявляет контуры и отличается низкой вычислительной сложностью, что делает его удобным для систем реального времени.</a:t>
            </a: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07FE6C-511C-69E4-BA68-F8E8EF6593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8952" y="467159"/>
            <a:ext cx="3353268" cy="599206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9780" y="398780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Архитектура распределённой системы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405006D-4541-79F2-922B-10613D4A6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42022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Представляет собой клиент-серверную архитектуру на основе модели распределённых вычислений </a:t>
            </a:r>
            <a:r>
              <a:rPr lang="ru-RU" i="1" dirty="0"/>
              <a:t>Master</a:t>
            </a:r>
            <a:r>
              <a:rPr lang="ru-RU" dirty="0"/>
              <a:t>-</a:t>
            </a:r>
            <a:r>
              <a:rPr lang="ru-RU" i="1" dirty="0" err="1"/>
              <a:t>Slave</a:t>
            </a:r>
            <a:r>
              <a:rPr lang="ru-RU" dirty="0"/>
              <a:t>.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AE513B-4445-F71E-AFFD-097BCEE7C7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9923" y="2729977"/>
            <a:ext cx="6313154" cy="354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46379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F26C08B-E21C-AD5B-D222-D4DE54D04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5025" y="3097766"/>
            <a:ext cx="6010276" cy="359830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61925"/>
            <a:ext cx="10515600" cy="1325563"/>
          </a:xfrm>
        </p:spPr>
        <p:txBody>
          <a:bodyPr/>
          <a:lstStyle/>
          <a:p>
            <a:r>
              <a:rPr lang="ru-RU" dirty="0"/>
              <a:t>Результаты нагрузочного тестирования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49FDB6-BD8D-E26B-75AD-C7AA59DA6F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Результаты доказывают преимущество многопоточных , вычислений, однако ускорение не является линейным, так как в программе присутствует последовательный код, а так же увеличиваются накладные расходы.</a:t>
            </a:r>
            <a:endParaRPr lang="en-GB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12725"/>
            <a:ext cx="10515600" cy="1325563"/>
          </a:xfrm>
        </p:spPr>
        <p:txBody>
          <a:bodyPr/>
          <a:lstStyle/>
          <a:p>
            <a:r>
              <a:rPr lang="ru-RU"/>
              <a:t>Графический интерфейс приложения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E60F9B3-07F4-AF22-AEFF-C645194022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31501" y="1538288"/>
            <a:ext cx="8328998" cy="5194300"/>
          </a:xfr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В ходе работы была разработана распределённая система обработки изображений с архитектурой </a:t>
            </a:r>
            <a:r>
              <a:rPr lang="ru-RU" i="1" dirty="0"/>
              <a:t>Master</a:t>
            </a:r>
            <a:r>
              <a:rPr lang="ru-RU" dirty="0"/>
              <a:t>–</a:t>
            </a:r>
            <a:r>
              <a:rPr lang="ru-RU" i="1" dirty="0" err="1"/>
              <a:t>Slave</a:t>
            </a:r>
            <a:r>
              <a:rPr lang="ru-RU" dirty="0"/>
              <a:t>, использующая алгоритм Робертса для выделения границ. Система обеспечивает параллельную обработку данных с применением алгоритма </a:t>
            </a:r>
            <a:r>
              <a:rPr lang="ru-RU" i="1" dirty="0" err="1"/>
              <a:t>Round</a:t>
            </a:r>
            <a:r>
              <a:rPr lang="ru-RU" dirty="0"/>
              <a:t> </a:t>
            </a:r>
            <a:r>
              <a:rPr lang="ru-RU" i="1" dirty="0" err="1"/>
              <a:t>Robin</a:t>
            </a:r>
            <a:r>
              <a:rPr lang="ru-RU" dirty="0"/>
              <a:t> и работу клиентской части в реальном времени через протоколы </a:t>
            </a:r>
            <a:r>
              <a:rPr lang="ru-RU" i="1" dirty="0"/>
              <a:t>TCP</a:t>
            </a:r>
            <a:r>
              <a:rPr lang="ru-RU" dirty="0"/>
              <a:t>/</a:t>
            </a:r>
            <a:r>
              <a:rPr lang="ru-RU" i="1" dirty="0"/>
              <a:t>UDP</a:t>
            </a:r>
            <a:r>
              <a:rPr lang="ru-RU" dirty="0"/>
              <a:t>. А так же доказали преимущество параллельных вычислений. Все поставленные цели были  достигнуты.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408</Words>
  <Application>Microsoft Office PowerPoint</Application>
  <PresentationFormat>Widescreen</PresentationFormat>
  <Paragraphs>31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Times New Roman</vt:lpstr>
      <vt:lpstr>Office Theme</vt:lpstr>
      <vt:lpstr>Master-slave система на основе TCP для применения оператора Робертса к изображению</vt:lpstr>
      <vt:lpstr>Актуальность темы</vt:lpstr>
      <vt:lpstr>Постановка задачи и основные цели</vt:lpstr>
      <vt:lpstr>Модель Master-Slave</vt:lpstr>
      <vt:lpstr>Алгоритм планирования Round Robin</vt:lpstr>
      <vt:lpstr>Сетевые протоколы TCP/UDP</vt:lpstr>
      <vt:lpstr>Алгоритм Робертса</vt:lpstr>
      <vt:lpstr>Архитектура распределённой системы</vt:lpstr>
      <vt:lpstr>Результаты нагрузочного тестирования</vt:lpstr>
      <vt:lpstr>Графический интерфейс приложения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3D-реконструкция поясничного отдела позвоночника человека методом dual contouring</dc:title>
  <dc:creator>Глеб Ковшаров</dc:creator>
  <cp:lastModifiedBy>Глеб Ковшаров</cp:lastModifiedBy>
  <cp:revision>117</cp:revision>
  <dcterms:created xsi:type="dcterms:W3CDTF">2024-05-17T08:47:11Z</dcterms:created>
  <dcterms:modified xsi:type="dcterms:W3CDTF">2025-12-11T09:41:55Z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CE66D5626B914176B2441CD52C468671_12</vt:lpwstr>
  </property>
  <property fmtid="{D5CDD505-2E9C-101B-9397-08002B2CF9AE}" pid="3" name="KSOProductBuildVer">
    <vt:lpwstr>1033-12.2.0.16909</vt:lpwstr>
  </property>
</Properties>
</file>